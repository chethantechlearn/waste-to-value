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Quattrocento" panose="020B0604020202020204" charset="0"/>
      <p:regular r:id="rId13"/>
    </p:embeddedFont>
    <p:embeddedFont>
      <p:font typeface="Calibri" panose="020F0502020204030204" pitchFamily="34" charset="0"/>
      <p:regular r:id="rId14"/>
      <p:bold r:id="rId15"/>
      <p:italic r:id="rId16"/>
      <p:boldItalic r:id="rId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8" d="100"/>
          <a:sy n="88" d="100"/>
        </p:scale>
        <p:origin x="466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44711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3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jpeg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-4-3.svg"/><Relationship Id="rId4" Type="http://schemas.openxmlformats.org/officeDocument/2006/relationships/image" Target="../media/image-4-3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4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-6-5.svg"/><Relationship Id="rId5" Type="http://schemas.openxmlformats.org/officeDocument/2006/relationships/image" Target="../media/image15.png"/><Relationship Id="rId4" Type="http://schemas.openxmlformats.org/officeDocument/2006/relationships/image" Target="../media/image-6-3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18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21.png"/><Relationship Id="rId7" Type="http://schemas.openxmlformats.org/officeDocument/2006/relationships/image" Target="../media/image-10-3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-10-3.svg"/><Relationship Id="rId4" Type="http://schemas.openxmlformats.org/officeDocument/2006/relationships/image" Target="../media/image-10-3.svg"/><Relationship Id="rId9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98086" y="2082105"/>
            <a:ext cx="6223638" cy="513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WASTE TO VALUE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698086" y="2665115"/>
            <a:ext cx="6223638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Conversion of Vegetable Waste into Organic Plant Pellets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698086" y="3183533"/>
            <a:ext cx="6223638" cy="15923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500"/>
              </a:spcAft>
              <a:buNone/>
            </a:pPr>
            <a:r>
              <a:rPr lang="en-US" sz="13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Turning vegetable waste into a stable, transportable, and high‑value agricultural input. A practical circular-economy model that reduces landfill loads, captures nutrients, and delivers affordable organic pellets for home gardeners, nurseries, and small farms. </a:t>
            </a:r>
            <a:endParaRPr lang="en-US" sz="13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</a:t>
            </a:r>
            <a:endParaRPr lang="en-US" sz="135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4"/>
          <a:srcRect t="22190" b="20002"/>
          <a:stretch/>
        </p:blipFill>
        <p:spPr>
          <a:xfrm>
            <a:off x="611000" y="844730"/>
            <a:ext cx="4589613" cy="84473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69971" y="1312664"/>
            <a:ext cx="6223638" cy="513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The Main Problem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5269971" y="2087662"/>
            <a:ext cx="6223638" cy="1396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Urban vegetable and food waste is frequently landfilled or mixed with general refuse, losing valuable organic matter and nutrients. High moisture content makes collection, transport, and storage costly; wet waste decomposes quickly, producing odors and pests. Meanwhile, many growers lack affordable, standardized organic inputs that are easy to store and apply. </a:t>
            </a:r>
            <a:endParaRPr lang="en-US" sz="1350" dirty="0"/>
          </a:p>
        </p:txBody>
      </p:sp>
      <p:sp>
        <p:nvSpPr>
          <p:cNvPr id="5" name="Shape 2"/>
          <p:cNvSpPr/>
          <p:nvPr/>
        </p:nvSpPr>
        <p:spPr>
          <a:xfrm>
            <a:off x="5269971" y="3680023"/>
            <a:ext cx="3024509" cy="1865312"/>
          </a:xfrm>
          <a:prstGeom prst="roundRect">
            <a:avLst>
              <a:gd name="adj" fmla="val 1404"/>
            </a:avLst>
          </a:prstGeom>
          <a:solidFill>
            <a:srgbClr val="123332"/>
          </a:solidFill>
          <a:ln w="19050">
            <a:solidFill>
              <a:srgbClr val="4A6B6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63542" y="3873599"/>
            <a:ext cx="2637367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Core Issue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463542" y="4234954"/>
            <a:ext cx="2637367" cy="11168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Valuable nutrients from vegetable waste are discarded instead of recirculated to soil as usable inputs.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8469001" y="3680023"/>
            <a:ext cx="3024608" cy="1865312"/>
          </a:xfrm>
          <a:prstGeom prst="roundRect">
            <a:avLst>
              <a:gd name="adj" fmla="val 1404"/>
            </a:avLst>
          </a:prstGeom>
          <a:solidFill>
            <a:srgbClr val="123332"/>
          </a:solidFill>
          <a:ln w="19050">
            <a:solidFill>
              <a:srgbClr val="4A6B6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662572" y="3873599"/>
            <a:ext cx="2637466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Operational Challenges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662572" y="4234954"/>
            <a:ext cx="2637466" cy="11168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High moisture, transportation cost, pest attraction, and rapid spoilage make raw waste impractical for farmers.</a:t>
            </a:r>
            <a:endParaRPr lang="en-US" sz="1350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50035" y="6557082"/>
            <a:ext cx="1641965" cy="30091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772616"/>
            <a:ext cx="10795524" cy="513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Our Solution — Process Overview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98086" y="1634927"/>
            <a:ext cx="10795524" cy="8376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We convert segregated vegetable waste into dried, ground, formulated pellets through a simple modular process: Collection → Dehydration → Grinding → Formulation → Pelletization → Quality testing → Packaged product. The result: low-moisture, odor‑reduced pellets that are easy to transport, store, and apply. </a:t>
            </a:r>
            <a:endParaRPr lang="en-US" sz="13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086" y="2668885"/>
            <a:ext cx="1533685" cy="153372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449947" y="2668885"/>
            <a:ext cx="3536762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Collection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2449947" y="3030240"/>
            <a:ext cx="3536762" cy="8376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Segregated streams from hotels, markets, and canteens reduce contamination risk and improve product consistency.</a:t>
            </a:r>
            <a:endParaRPr lang="en-US" sz="13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4886" y="2668885"/>
            <a:ext cx="1533685" cy="153372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956748" y="2668885"/>
            <a:ext cx="3536862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Dehydration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7956748" y="3030240"/>
            <a:ext cx="3536862" cy="8376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Removes moisture to cut transport weight and slow spoilage; enables safe storage before grinding.</a:t>
            </a:r>
            <a:endParaRPr lang="en-US" sz="13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086" y="4551660"/>
            <a:ext cx="1533685" cy="153372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2449947" y="4551660"/>
            <a:ext cx="3536762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Grinding &amp; Mixing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2449947" y="4913015"/>
            <a:ext cx="3536762" cy="8376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Creates a uniform powder base that can be blended with additives for nutrient balance and pellet stability.</a:t>
            </a:r>
            <a:endParaRPr lang="en-US" sz="13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04886" y="4551660"/>
            <a:ext cx="1533685" cy="1533723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956748" y="4551660"/>
            <a:ext cx="3536862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Pelletization &amp; Testing</a:t>
            </a:r>
            <a:endParaRPr lang="en-US" sz="1600" dirty="0"/>
          </a:p>
        </p:txBody>
      </p:sp>
      <p:sp>
        <p:nvSpPr>
          <p:cNvPr id="15" name="Text 9"/>
          <p:cNvSpPr/>
          <p:nvPr/>
        </p:nvSpPr>
        <p:spPr>
          <a:xfrm>
            <a:off x="7956748" y="4913015"/>
            <a:ext cx="3536862" cy="8376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Produces consistent 3–6 mm pellets; follow with nutrient, safety, and physical testing prior to packaging.</a:t>
            </a:r>
            <a:endParaRPr lang="en-US" sz="1350" dirty="0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52034" y="6559270"/>
            <a:ext cx="1639966" cy="29873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269971" y="1055985"/>
            <a:ext cx="6223638" cy="1026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Collection &amp; Segregation — Practical Guidance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5269971" y="2344241"/>
            <a:ext cx="6223638" cy="11168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Efficient upstream separation is critical. Target sources where segregation is practical: hotels, hostels, restaurants, college canteens, vegetable markets and catering services. Provide simple labeled bins and short training to reduce contaminants and ensure feedstock quality. </a:t>
            </a:r>
            <a:endParaRPr lang="en-US" sz="13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5269971" y="3657402"/>
            <a:ext cx="3024509" cy="214451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539740" y="3850977"/>
            <a:ext cx="2561169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Suitable Materials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5539740" y="4212332"/>
            <a:ext cx="2561169" cy="11168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Vegetable peels, trimmings, fruit residues, spoiled but uncontaminated vegetables, and plant-based kitchen wastes.</a:t>
            </a:r>
            <a:endParaRPr lang="en-US" sz="13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8469001" y="3657402"/>
            <a:ext cx="3024608" cy="214451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738770" y="3850977"/>
            <a:ext cx="2561268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Do NOT Accept</a:t>
            </a:r>
            <a:endParaRPr lang="en-US" sz="1600" dirty="0"/>
          </a:p>
        </p:txBody>
      </p:sp>
      <p:sp>
        <p:nvSpPr>
          <p:cNvPr id="10" name="Text 5"/>
          <p:cNvSpPr/>
          <p:nvPr/>
        </p:nvSpPr>
        <p:spPr>
          <a:xfrm>
            <a:off x="8738770" y="4212332"/>
            <a:ext cx="2561268" cy="1396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Plastics, glass, metals, chemicals, heavy oils, meat, bones, or highly contaminated streams — they compromise safety and testing.</a:t>
            </a:r>
            <a:endParaRPr lang="en-US" sz="1350" dirty="0"/>
          </a:p>
        </p:txBody>
      </p:sp>
      <p:sp>
        <p:nvSpPr>
          <p:cNvPr id="11" name="AutoShape 2" descr="Generated image: Organic Waste-to-Value Kitchen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09" y="-5254"/>
            <a:ext cx="4572000" cy="6869173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52034" y="6559270"/>
            <a:ext cx="1639966" cy="29873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269971" y="510183"/>
            <a:ext cx="6223638" cy="10106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Size Reduction &amp; Dehydration — Key Operational Steps</a:t>
            </a:r>
            <a:endParaRPr lang="en-US" sz="3150" dirty="0"/>
          </a:p>
        </p:txBody>
      </p:sp>
      <p:sp>
        <p:nvSpPr>
          <p:cNvPr id="4" name="Text 1"/>
          <p:cNvSpPr/>
          <p:nvPr/>
        </p:nvSpPr>
        <p:spPr>
          <a:xfrm>
            <a:off x="5269971" y="1774527"/>
            <a:ext cx="6223638" cy="10910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3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Shredding increases surface area and speeds drying. Dehydration (solar-assisted or low-cost electric) reduces moisture, weight, and microbial activity. Together they improve handling, reduce odors, and prepare material for efficient grinding and formulation. 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5269971" y="3055739"/>
            <a:ext cx="343586" cy="2147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01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5269971" y="3328591"/>
            <a:ext cx="3027287" cy="19050"/>
          </a:xfrm>
          <a:prstGeom prst="rect">
            <a:avLst/>
          </a:prstGeom>
          <a:solidFill>
            <a:srgbClr val="EF9C82"/>
          </a:solidFill>
          <a:ln/>
        </p:spPr>
      </p:sp>
      <p:sp>
        <p:nvSpPr>
          <p:cNvPr id="7" name="Text 4"/>
          <p:cNvSpPr/>
          <p:nvPr/>
        </p:nvSpPr>
        <p:spPr>
          <a:xfrm>
            <a:off x="5269971" y="3452515"/>
            <a:ext cx="3027287" cy="252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Shredding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5269971" y="3806527"/>
            <a:ext cx="3027287" cy="8182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3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Use a small shredder to create consistent small particles for faster, uniform drying.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8466323" y="3055739"/>
            <a:ext cx="343586" cy="2147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02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8466323" y="3328591"/>
            <a:ext cx="3027287" cy="19050"/>
          </a:xfrm>
          <a:prstGeom prst="rect">
            <a:avLst/>
          </a:prstGeom>
          <a:solidFill>
            <a:srgbClr val="EF9C82"/>
          </a:solidFill>
          <a:ln/>
        </p:spPr>
      </p:sp>
      <p:sp>
        <p:nvSpPr>
          <p:cNvPr id="11" name="Text 8"/>
          <p:cNvSpPr/>
          <p:nvPr/>
        </p:nvSpPr>
        <p:spPr>
          <a:xfrm>
            <a:off x="8466323" y="3452515"/>
            <a:ext cx="3027287" cy="252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Dehydration Methods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8466323" y="3806527"/>
            <a:ext cx="3027287" cy="8182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3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Options: solar tunnel dryers, batch tray dryers, or low-temperature air dryers depending on budget and climate.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5269971" y="4922639"/>
            <a:ext cx="343586" cy="2147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03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5269971" y="5195491"/>
            <a:ext cx="6223638" cy="19050"/>
          </a:xfrm>
          <a:prstGeom prst="rect">
            <a:avLst/>
          </a:prstGeom>
          <a:solidFill>
            <a:srgbClr val="EF9C82"/>
          </a:solidFill>
          <a:ln/>
        </p:spPr>
      </p:sp>
      <p:sp>
        <p:nvSpPr>
          <p:cNvPr id="15" name="Text 12"/>
          <p:cNvSpPr/>
          <p:nvPr/>
        </p:nvSpPr>
        <p:spPr>
          <a:xfrm>
            <a:off x="5269971" y="5319415"/>
            <a:ext cx="6223638" cy="252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Benefits</a:t>
            </a:r>
            <a:endParaRPr lang="en-US" sz="1550" dirty="0"/>
          </a:p>
        </p:txBody>
      </p:sp>
      <p:sp>
        <p:nvSpPr>
          <p:cNvPr id="16" name="Text 13"/>
          <p:cNvSpPr/>
          <p:nvPr/>
        </p:nvSpPr>
        <p:spPr>
          <a:xfrm>
            <a:off x="5269971" y="5673427"/>
            <a:ext cx="6223638" cy="5455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3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Lower transport cost, reduced spoilage, and improved storage life before grinding.</a:t>
            </a:r>
            <a:endParaRPr lang="en-US" sz="1350" dirty="0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8" y="1912"/>
            <a:ext cx="4563291" cy="6856088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52034" y="6549827"/>
            <a:ext cx="1639966" cy="29873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269971" y="1033959"/>
            <a:ext cx="6223638" cy="1026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Grinding &amp; Formulation — Making a Reliable Base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5269971" y="2322215"/>
            <a:ext cx="6223638" cy="11168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Crush dried material to a consistent powder (target particle sizing for uniform pelletization). Formulation may add stabilizers, binders, slow-release nutrient sources, or benign mineral supplements to ensure predictable performance and pellet strength. </a:t>
            </a:r>
            <a:endParaRPr lang="en-US" sz="13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5269971" y="3635375"/>
            <a:ext cx="436353" cy="43636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924501" y="3635375"/>
            <a:ext cx="5569108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Grinding Specs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5924501" y="3996730"/>
            <a:ext cx="5569108" cy="5584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Use a pulverizer or hammer mill; aim for uniform particle size to ensure consistent pellet formation.</a:t>
            </a:r>
            <a:endParaRPr lang="en-US" sz="13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5269971" y="4904184"/>
            <a:ext cx="436353" cy="43636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924501" y="4904184"/>
            <a:ext cx="5569108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Formulation Goals</a:t>
            </a:r>
            <a:endParaRPr lang="en-US" sz="1600" dirty="0"/>
          </a:p>
        </p:txBody>
      </p:sp>
      <p:sp>
        <p:nvSpPr>
          <p:cNvPr id="10" name="Text 5"/>
          <p:cNvSpPr/>
          <p:nvPr/>
        </p:nvSpPr>
        <p:spPr>
          <a:xfrm>
            <a:off x="5924501" y="5265539"/>
            <a:ext cx="5569108" cy="5584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Balance nutrients (NPK), improve bulk density, increase pellet durability, and maintain storage stability.</a:t>
            </a:r>
            <a:endParaRPr lang="en-US" sz="1350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-4897"/>
            <a:ext cx="5155474" cy="6862897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52034" y="6540988"/>
            <a:ext cx="1639966" cy="29873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1258193"/>
            <a:ext cx="10795524" cy="513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Pelletization, Sizes &amp; Application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98086" y="2120503"/>
            <a:ext cx="10795524" cy="5584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Pelletizers compress the formulated powder into dense pellets. Investigate a 3–6 mm diameter range for general-purpose soil amendment and nursery use. Pellet format reduces mess, improves dosing, and enables packaging at multiple scales from 1 kg to 25 kg. </a:t>
            </a:r>
            <a:endParaRPr lang="en-US" sz="13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086" y="2875260"/>
            <a:ext cx="1586567" cy="158660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98086" y="4680049"/>
            <a:ext cx="5288624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3–6 mm Pellets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98086" y="5041404"/>
            <a:ext cx="5288624" cy="5584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Convenient for broadcasting, potting mixes, and seedbed incorporation; small size supports even distribution.</a:t>
            </a:r>
            <a:endParaRPr lang="en-US" sz="13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4886" y="2875260"/>
            <a:ext cx="1586567" cy="158660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204886" y="4680049"/>
            <a:ext cx="5288723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Packaging Tiers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6204886" y="5041404"/>
            <a:ext cx="5288723" cy="5584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1 kg (home gardeners), 5 kg (terrace gardens, nurseries), 10 kg (larger users), 25 kg (farms &amp; landscapers).</a:t>
            </a:r>
            <a:endParaRPr lang="en-US" sz="1350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52034" y="6559270"/>
            <a:ext cx="1639966" cy="29873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98086" y="1052512"/>
            <a:ext cx="6223638" cy="513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Quality Testing &amp; Safety Protocols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698086" y="1827510"/>
            <a:ext cx="6223638" cy="11168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Before sale, each batch should undergo nutrient (N, P, K, moisture, pH) and safety testing (heavy metals, pathogens, physical contaminants). Physical tests: pellet size distribution, strength, bulk density, moisture stability, and breakdown rate in soil to predict field performance. </a:t>
            </a:r>
            <a:endParaRPr lang="en-US" sz="1350" dirty="0"/>
          </a:p>
        </p:txBody>
      </p:sp>
      <p:sp>
        <p:nvSpPr>
          <p:cNvPr id="5" name="Shape 2"/>
          <p:cNvSpPr/>
          <p:nvPr/>
        </p:nvSpPr>
        <p:spPr>
          <a:xfrm>
            <a:off x="698086" y="3140670"/>
            <a:ext cx="1958132" cy="2664817"/>
          </a:xfrm>
          <a:prstGeom prst="roundRect">
            <a:avLst>
              <a:gd name="adj" fmla="val 1337"/>
            </a:avLst>
          </a:prstGeom>
          <a:solidFill>
            <a:srgbClr val="315251"/>
          </a:solidFill>
          <a:ln/>
        </p:spPr>
      </p:sp>
      <p:sp>
        <p:nvSpPr>
          <p:cNvPr id="6" name="Text 3"/>
          <p:cNvSpPr/>
          <p:nvPr/>
        </p:nvSpPr>
        <p:spPr>
          <a:xfrm>
            <a:off x="872607" y="3315196"/>
            <a:ext cx="1609089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Nutrient Testing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72607" y="3676551"/>
            <a:ext cx="1609089" cy="19544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Measure Nitrogen, Phosphorus, Potassium, moisture content, and pH to create a specification sheet for customers.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2830739" y="3140670"/>
            <a:ext cx="1958231" cy="2664817"/>
          </a:xfrm>
          <a:prstGeom prst="roundRect">
            <a:avLst>
              <a:gd name="adj" fmla="val 1337"/>
            </a:avLst>
          </a:prstGeom>
          <a:solidFill>
            <a:srgbClr val="315251"/>
          </a:solidFill>
          <a:ln/>
        </p:spPr>
      </p:sp>
      <p:sp>
        <p:nvSpPr>
          <p:cNvPr id="9" name="Text 6"/>
          <p:cNvSpPr/>
          <p:nvPr/>
        </p:nvSpPr>
        <p:spPr>
          <a:xfrm>
            <a:off x="3005261" y="3315196"/>
            <a:ext cx="1609189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Safety Tests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3005261" y="3676551"/>
            <a:ext cx="1609189" cy="19544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Screen for heavy metals and pathogens; ensure no physical contaminants remain from feedstock streams.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4963492" y="3140670"/>
            <a:ext cx="1958132" cy="2664817"/>
          </a:xfrm>
          <a:prstGeom prst="roundRect">
            <a:avLst>
              <a:gd name="adj" fmla="val 1337"/>
            </a:avLst>
          </a:prstGeom>
          <a:solidFill>
            <a:srgbClr val="315251"/>
          </a:solidFill>
          <a:ln/>
        </p:spPr>
      </p:sp>
      <p:sp>
        <p:nvSpPr>
          <p:cNvPr id="12" name="Text 9"/>
          <p:cNvSpPr/>
          <p:nvPr/>
        </p:nvSpPr>
        <p:spPr>
          <a:xfrm>
            <a:off x="5138014" y="3315196"/>
            <a:ext cx="1609089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Physical Integrity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138014" y="3676551"/>
            <a:ext cx="1609089" cy="19544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Assess pellet strength, bulk density, storage stability, and breakdown behavior in typical soils.</a:t>
            </a:r>
            <a:endParaRPr lang="en-US" sz="1350" dirty="0"/>
          </a:p>
        </p:txBody>
      </p:sp>
      <p:sp>
        <p:nvSpPr>
          <p:cNvPr id="14" name="AutoShape 2" descr="Environmental Science Laboratory Research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8334" y="1"/>
            <a:ext cx="4564564" cy="685800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52034" y="6559270"/>
            <a:ext cx="1639966" cy="29873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98086" y="485477"/>
            <a:ext cx="6223638" cy="454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Target Market &amp; Revenue Model</a:t>
            </a:r>
            <a:endParaRPr lang="en-US" sz="2850" dirty="0"/>
          </a:p>
        </p:txBody>
      </p:sp>
      <p:sp>
        <p:nvSpPr>
          <p:cNvPr id="4" name="Text 1"/>
          <p:cNvSpPr/>
          <p:nvPr/>
        </p:nvSpPr>
        <p:spPr>
          <a:xfrm>
            <a:off x="698086" y="1145679"/>
            <a:ext cx="6223638" cy="933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Primary customers: home gardeners, nurseries &amp; landscapers, and small-to-medium farmers. Revenue streams: direct product sales (packaged pellets) and contracted waste-processing services (collection/processing fees from institutions). Position the product on ease-of-use, affordability, predictable specs, and environmental impact. 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698086" y="2233216"/>
            <a:ext cx="347852" cy="347861"/>
          </a:xfrm>
          <a:prstGeom prst="roundRect">
            <a:avLst>
              <a:gd name="adj" fmla="val 6668"/>
            </a:avLst>
          </a:prstGeom>
          <a:solidFill>
            <a:srgbClr val="315251"/>
          </a:solidFill>
          <a:ln/>
        </p:spPr>
      </p:sp>
      <p:sp>
        <p:nvSpPr>
          <p:cNvPr id="6" name="Text 3"/>
          <p:cNvSpPr/>
          <p:nvPr/>
        </p:nvSpPr>
        <p:spPr>
          <a:xfrm>
            <a:off x="762874" y="2270720"/>
            <a:ext cx="218276" cy="2728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182856" y="2286298"/>
            <a:ext cx="5738867" cy="227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Home Gardeners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182856" y="2595860"/>
            <a:ext cx="5738867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Small packs, low odor, user-friendly dosing — marketed as "easy-to-use organic pellets for kitchen gardens."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98086" y="3336528"/>
            <a:ext cx="347852" cy="347861"/>
          </a:xfrm>
          <a:prstGeom prst="roundRect">
            <a:avLst>
              <a:gd name="adj" fmla="val 6668"/>
            </a:avLst>
          </a:prstGeom>
          <a:solidFill>
            <a:srgbClr val="315251"/>
          </a:solidFill>
          <a:ln/>
        </p:spPr>
      </p:sp>
      <p:sp>
        <p:nvSpPr>
          <p:cNvPr id="10" name="Text 7"/>
          <p:cNvSpPr/>
          <p:nvPr/>
        </p:nvSpPr>
        <p:spPr>
          <a:xfrm>
            <a:off x="762874" y="3374033"/>
            <a:ext cx="218276" cy="2728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2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1182856" y="3389610"/>
            <a:ext cx="5738867" cy="227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Nurseries &amp; Landscapers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182856" y="3699173"/>
            <a:ext cx="5738867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Bulk options, consistent quality, reliable supply for potting mixes and landscape projects.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98086" y="4439841"/>
            <a:ext cx="347852" cy="347861"/>
          </a:xfrm>
          <a:prstGeom prst="roundRect">
            <a:avLst>
              <a:gd name="adj" fmla="val 6668"/>
            </a:avLst>
          </a:prstGeom>
          <a:solidFill>
            <a:srgbClr val="315251"/>
          </a:solidFill>
          <a:ln/>
        </p:spPr>
      </p:sp>
      <p:sp>
        <p:nvSpPr>
          <p:cNvPr id="14" name="Text 11"/>
          <p:cNvSpPr/>
          <p:nvPr/>
        </p:nvSpPr>
        <p:spPr>
          <a:xfrm>
            <a:off x="762874" y="4477345"/>
            <a:ext cx="218276" cy="2728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3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1182856" y="4492923"/>
            <a:ext cx="5738867" cy="227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Farmers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182856" y="4802485"/>
            <a:ext cx="5738867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Competitive pricing per nutrient unit, soil health benefits, and bulk availability for field application.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98086" y="5543153"/>
            <a:ext cx="347852" cy="347861"/>
          </a:xfrm>
          <a:prstGeom prst="roundRect">
            <a:avLst>
              <a:gd name="adj" fmla="val 6668"/>
            </a:avLst>
          </a:prstGeom>
          <a:solidFill>
            <a:srgbClr val="315251"/>
          </a:solidFill>
          <a:ln/>
        </p:spPr>
      </p:sp>
      <p:sp>
        <p:nvSpPr>
          <p:cNvPr id="18" name="Text 15"/>
          <p:cNvSpPr/>
          <p:nvPr/>
        </p:nvSpPr>
        <p:spPr>
          <a:xfrm>
            <a:off x="762874" y="5580658"/>
            <a:ext cx="218276" cy="2728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4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1182856" y="5596235"/>
            <a:ext cx="5738867" cy="227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Services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182856" y="5905798"/>
            <a:ext cx="5738867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Offer waste-collection contracts to institutions as an additional revenue and feedstock security channel.</a:t>
            </a:r>
            <a:endParaRPr lang="en-US" sz="1200" dirty="0"/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5829" y="-2165"/>
            <a:ext cx="4737206" cy="6842235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52034" y="6541340"/>
            <a:ext cx="1639966" cy="29873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269971" y="761504"/>
            <a:ext cx="6223638" cy="436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Competitive Advantages &amp; Next Steps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5269971" y="1386880"/>
            <a:ext cx="6223638" cy="877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Our product converts a local waste stream into a standardized, easy-to-apply organic soil input. Advantages include waste-to-value messaging, low‑moisture format for logistics, pelletized convenience, and the potential for lab-tested specifications and biological enhancements. Solar-assisted drying and microbial amendments offer future differentiation. </a:t>
            </a:r>
            <a:endParaRPr lang="en-US" sz="1150" dirty="0"/>
          </a:p>
        </p:txBody>
      </p:sp>
      <p:sp>
        <p:nvSpPr>
          <p:cNvPr id="5" name="Shape 2"/>
          <p:cNvSpPr/>
          <p:nvPr/>
        </p:nvSpPr>
        <p:spPr>
          <a:xfrm>
            <a:off x="5269971" y="2406551"/>
            <a:ext cx="333764" cy="333772"/>
          </a:xfrm>
          <a:prstGeom prst="roundRect">
            <a:avLst>
              <a:gd name="adj" fmla="val 6668"/>
            </a:avLst>
          </a:prstGeom>
          <a:solidFill>
            <a:srgbClr val="315251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5332130" y="2468662"/>
            <a:ext cx="209446" cy="20945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729839" y="2457549"/>
            <a:ext cx="5763771" cy="218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Value Propositions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5729839" y="2751237"/>
            <a:ext cx="5763771" cy="746522"/>
          </a:xfrm>
          <a:prstGeom prst="rect">
            <a:avLst/>
          </a:prstGeom>
          <a:noFill/>
          <a:ln/>
        </p:spPr>
        <p:txBody>
          <a:bodyPr wrap="square" lIns="0" tIns="59345" rIns="0" bIns="0" rtlCol="0" anchor="t">
            <a:normAutofit/>
          </a:bodyPr>
          <a:lstStyle/>
          <a:p>
            <a:pPr marL="233680" indent="-233680" algn="l">
              <a:lnSpc>
                <a:spcPct val="123000"/>
              </a:lnSpc>
              <a:buSzPct val="100000"/>
              <a:buChar char="•"/>
            </a:pPr>
            <a:r>
              <a:rPr lang="en-US" sz="11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Reduces landfill volumes and collection costs</a:t>
            </a:r>
            <a:endParaRPr lang="en-US" sz="1150" dirty="0"/>
          </a:p>
          <a:p>
            <a:pPr marL="233680" indent="-233680" algn="l">
              <a:lnSpc>
                <a:spcPct val="123000"/>
              </a:lnSpc>
              <a:buSzPct val="100000"/>
              <a:buChar char="•"/>
            </a:pPr>
            <a:r>
              <a:rPr lang="en-US" sz="11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Delivers affordable organic matter and slow-release nutrients</a:t>
            </a:r>
            <a:endParaRPr lang="en-US" sz="1150" dirty="0"/>
          </a:p>
          <a:p>
            <a:pPr marL="233680" indent="-233680" algn="l">
              <a:lnSpc>
                <a:spcPct val="123000"/>
              </a:lnSpc>
              <a:buSzPct val="100000"/>
              <a:buChar char="•"/>
            </a:pPr>
            <a:r>
              <a:rPr lang="en-US" sz="11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Cleaner, easier application than loose compost</a:t>
            </a:r>
            <a:endParaRPr lang="en-US" sz="1150" dirty="0"/>
          </a:p>
        </p:txBody>
      </p:sp>
      <p:sp>
        <p:nvSpPr>
          <p:cNvPr id="9" name="Shape 5"/>
          <p:cNvSpPr/>
          <p:nvPr/>
        </p:nvSpPr>
        <p:spPr>
          <a:xfrm>
            <a:off x="5269971" y="3749973"/>
            <a:ext cx="333764" cy="333772"/>
          </a:xfrm>
          <a:prstGeom prst="roundRect">
            <a:avLst>
              <a:gd name="adj" fmla="val 6668"/>
            </a:avLst>
          </a:prstGeom>
          <a:solidFill>
            <a:srgbClr val="315251"/>
          </a:solidFill>
          <a:ln/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5332130" y="3812084"/>
            <a:ext cx="209446" cy="209451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729839" y="3800971"/>
            <a:ext cx="5763771" cy="218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Short-Term Roadmap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5729839" y="4094659"/>
            <a:ext cx="5763771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33680" indent="-233680" algn="l">
              <a:lnSpc>
                <a:spcPct val="123000"/>
              </a:lnSpc>
              <a:buSzPct val="100000"/>
              <a:buFont typeface="+mj-lt"/>
              <a:buAutoNum type="arabicPeriod"/>
            </a:pPr>
            <a:r>
              <a:rPr lang="en-US" sz="11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Pilot with 2–3 institutional feedstock partners</a:t>
            </a:r>
            <a:endParaRPr lang="en-US" sz="1150" dirty="0"/>
          </a:p>
          <a:p>
            <a:pPr marL="233680" indent="-233680" algn="l">
              <a:lnSpc>
                <a:spcPct val="123000"/>
              </a:lnSpc>
              <a:buSzPct val="100000"/>
              <a:buFont typeface="+mj-lt"/>
              <a:buAutoNum type="arabicPeriod" startAt="2"/>
            </a:pPr>
            <a:r>
              <a:rPr lang="en-US" sz="11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Establish basic dehydration and pelletization line</a:t>
            </a:r>
            <a:endParaRPr lang="en-US" sz="1150" dirty="0"/>
          </a:p>
          <a:p>
            <a:pPr marL="233680" indent="-233680" algn="l">
              <a:lnSpc>
                <a:spcPct val="123000"/>
              </a:lnSpc>
              <a:buSzPct val="100000"/>
              <a:buFont typeface="+mj-lt"/>
              <a:buAutoNum type="arabicPeriod" startAt="3"/>
            </a:pPr>
            <a:r>
              <a:rPr lang="en-US" sz="11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Set up simple lab testing and packaging</a:t>
            </a:r>
            <a:endParaRPr lang="en-US" sz="1150" dirty="0"/>
          </a:p>
        </p:txBody>
      </p:sp>
      <p:sp>
        <p:nvSpPr>
          <p:cNvPr id="13" name="Shape 8"/>
          <p:cNvSpPr/>
          <p:nvPr/>
        </p:nvSpPr>
        <p:spPr>
          <a:xfrm>
            <a:off x="5269971" y="5093395"/>
            <a:ext cx="333764" cy="333772"/>
          </a:xfrm>
          <a:prstGeom prst="roundRect">
            <a:avLst>
              <a:gd name="adj" fmla="val 6668"/>
            </a:avLst>
          </a:prstGeom>
          <a:solidFill>
            <a:srgbClr val="315251"/>
          </a:solidFill>
          <a:ln/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5332130" y="5155505"/>
            <a:ext cx="209446" cy="209451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729839" y="5144393"/>
            <a:ext cx="5763771" cy="218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Call to Action</a:t>
            </a:r>
            <a:endParaRPr lang="en-US" sz="1350" dirty="0"/>
          </a:p>
        </p:txBody>
      </p:sp>
      <p:sp>
        <p:nvSpPr>
          <p:cNvPr id="16" name="Text 10"/>
          <p:cNvSpPr/>
          <p:nvPr/>
        </p:nvSpPr>
        <p:spPr>
          <a:xfrm>
            <a:off x="5729839" y="5438080"/>
            <a:ext cx="5763771" cy="658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Partner with local waste generators, test product with target growers, and validate cost-per-nutrient to scale production. Let’s turn municipal vegetable waste into a practical soil solution.</a:t>
            </a:r>
            <a:endParaRPr lang="en-US" sz="1150" dirty="0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1" y="10061"/>
            <a:ext cx="4676504" cy="6847940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552034" y="6559270"/>
            <a:ext cx="1639966" cy="29873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</TotalTime>
  <Words>1077</Words>
  <Application>Microsoft Office PowerPoint</Application>
  <PresentationFormat>Widescreen</PresentationFormat>
  <Paragraphs>93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Quattrocento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Admin</cp:lastModifiedBy>
  <cp:revision>5</cp:revision>
  <dcterms:created xsi:type="dcterms:W3CDTF">2026-08-23T12:55:06Z</dcterms:created>
  <dcterms:modified xsi:type="dcterms:W3CDTF">2026-08-23T17:59:03Z</dcterms:modified>
</cp:coreProperties>
</file>