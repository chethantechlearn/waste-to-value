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731520"/>
            <a:ext cx="2743200" cy="320040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1234440"/>
            <a:ext cx="2103120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WASTE TO VALUE</a:t>
            </a:r>
          </a:p>
          <a:p>
            <a:pPr>
              <a:defRPr sz="2500">
                <a:solidFill>
                  <a:srgbClr val="5BB4E8"/>
                </a:solidFill>
              </a:defRPr>
            </a:pPr>
            <a:r>
              <a:t>Conversion of Vegetable Waste into Organic Plant Pellets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Turning vegetable waste into a useful agricultural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0060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♻ Waste Management   •   🌱 Agriculture   •   🔄 Circular Economy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Tushar Kumar 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The Main Problem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Large-scale vegetable &amp; food waste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766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A38"/>
                </a:solidFill>
                <a:latin typeface="Aptos"/>
              </a:defRPr>
            </a:pPr>
            <a:r>
              <a:t>• Organic waste is frequently sent to landfills or mixed with other waste.</a:t>
            </a:r>
          </a:p>
          <a:p>
            <a:pPr>
              <a:spcAft>
                <a:spcPts val="900"/>
              </a:spcAft>
              <a:defRPr sz="1700">
                <a:solidFill>
                  <a:srgbClr val="1C2A38"/>
                </a:solidFill>
                <a:latin typeface="Aptos"/>
              </a:defRPr>
            </a:pPr>
            <a:r>
              <a:t>• High moisture makes fresh vegetable waste difficult and expensive to transport and store.</a:t>
            </a:r>
          </a:p>
          <a:p>
            <a:pPr>
              <a:spcAft>
                <a:spcPts val="900"/>
              </a:spcAft>
              <a:defRPr sz="1700">
                <a:solidFill>
                  <a:srgbClr val="1C2A38"/>
                </a:solidFill>
                <a:latin typeface="Aptos"/>
              </a:defRPr>
            </a:pPr>
            <a:r>
              <a:t>• Decomposition produces unpleasant odors and can attract insects and pests.</a:t>
            </a:r>
          </a:p>
          <a:p>
            <a:pPr>
              <a:spcAft>
                <a:spcPts val="900"/>
              </a:spcAft>
              <a:defRPr sz="1700">
                <a:solidFill>
                  <a:srgbClr val="1C2A38"/>
                </a:solidFill>
                <a:latin typeface="Aptos"/>
              </a:defRPr>
            </a:pPr>
            <a:r>
              <a:t>• Valuable organic matter and nutrients are lost.</a:t>
            </a:r>
          </a:p>
          <a:p>
            <a:pPr>
              <a:spcAft>
                <a:spcPts val="900"/>
              </a:spcAft>
              <a:defRPr sz="1700">
                <a:solidFill>
                  <a:srgbClr val="1C2A38"/>
                </a:solidFill>
                <a:latin typeface="Aptos"/>
              </a:defRPr>
            </a:pPr>
            <a:r>
              <a:t>• Farmers and gardeners need affordable and easy-to-use organic inputs.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554480"/>
            <a:ext cx="3474720" cy="292608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CORE PROBLEM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Valuable nutrients and organic matter from vegetable waste are being discarded instead of being converted into a useful agricultural resource.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Our Solution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Convert segregated vegetable waste into organic plant pellets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499616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Vegetable Waste</a:t>
            </a:r>
          </a:p>
        </p:txBody>
      </p:sp>
      <p:sp>
        <p:nvSpPr>
          <p:cNvPr id="5" name="Chevron 4"/>
          <p:cNvSpPr/>
          <p:nvPr/>
        </p:nvSpPr>
        <p:spPr>
          <a:xfrm>
            <a:off x="2002536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12263" y="2011680"/>
            <a:ext cx="1499616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Dehydration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3611879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1607" y="2011680"/>
            <a:ext cx="1499616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Grinding</a:t>
            </a:r>
          </a:p>
        </p:txBody>
      </p:sp>
      <p:sp>
        <p:nvSpPr>
          <p:cNvPr id="9" name="Chevron 8"/>
          <p:cNvSpPr/>
          <p:nvPr/>
        </p:nvSpPr>
        <p:spPr>
          <a:xfrm>
            <a:off x="5221223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30951" y="2011680"/>
            <a:ext cx="1499616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Formulation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6830567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0295" y="2011680"/>
            <a:ext cx="1499616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Pelletization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8439911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9640" y="2011680"/>
            <a:ext cx="1499616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Quality Testing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10049256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58984" y="2011680"/>
            <a:ext cx="1499616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Plant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2A38"/>
                </a:solidFill>
                <a:latin typeface="Aptos"/>
              </a:defRPr>
            </a:pPr>
            <a:r>
              <a:t>♻ Converts organic waste into a useful agricultural input</a:t>
            </a:r>
          </a:p>
          <a:p>
            <a:pPr>
              <a:spcAft>
                <a:spcPts val="900"/>
              </a:spcAft>
              <a:defRPr sz="1500">
                <a:solidFill>
                  <a:srgbClr val="1C2A38"/>
                </a:solidFill>
                <a:latin typeface="Aptos"/>
              </a:defRPr>
            </a:pPr>
            <a:r>
              <a:t>🌱 Provides organic matter to soil</a:t>
            </a:r>
          </a:p>
          <a:p>
            <a:pPr>
              <a:spcAft>
                <a:spcPts val="900"/>
              </a:spcAft>
              <a:defRPr sz="1500">
                <a:solidFill>
                  <a:srgbClr val="1C2A38"/>
                </a:solidFill>
                <a:latin typeface="Aptos"/>
              </a:defRPr>
            </a:pPr>
            <a:r>
              <a:t>💧 Reduces moisture and waste volume</a:t>
            </a:r>
          </a:p>
          <a:p>
            <a:pPr>
              <a:spcAft>
                <a:spcPts val="900"/>
              </a:spcAft>
              <a:defRPr sz="1500">
                <a:solidFill>
                  <a:srgbClr val="1C2A38"/>
                </a:solidFill>
                <a:latin typeface="Aptos"/>
              </a:defRPr>
            </a:pPr>
            <a:r>
              <a:t>📦 Easier to store and transport</a:t>
            </a:r>
          </a:p>
          <a:p>
            <a:pPr>
              <a:spcAft>
                <a:spcPts val="900"/>
              </a:spcAft>
              <a:defRPr sz="1500">
                <a:solidFill>
                  <a:srgbClr val="1C2A38"/>
                </a:solidFill>
                <a:latin typeface="Aptos"/>
              </a:defRPr>
            </a:pPr>
            <a:r>
              <a:t>🌾 Pellet form makes application convenient</a:t>
            </a:r>
          </a:p>
          <a:p>
            <a:pPr>
              <a:spcAft>
                <a:spcPts val="900"/>
              </a:spcAft>
              <a:defRPr sz="1500">
                <a:solidFill>
                  <a:srgbClr val="1C2A38"/>
                </a:solidFill>
                <a:latin typeface="Aptos"/>
              </a:defRPr>
            </a:pPr>
            <a:r>
              <a:t>🔄 Supports a circular economy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Product Development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Complete manufacturing pathway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Collection</a:t>
            </a:r>
          </a:p>
        </p:txBody>
      </p:sp>
      <p:sp>
        <p:nvSpPr>
          <p:cNvPr id="5" name="Chevron 4"/>
          <p:cNvSpPr/>
          <p:nvPr/>
        </p:nvSpPr>
        <p:spPr>
          <a:xfrm>
            <a:off x="2270760" y="203911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80488" y="182880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Segregation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4148328" y="203911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8056" y="182880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Size Reduction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6025896" y="203911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82880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Dehydration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7903463" y="203911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3192" y="182880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Grinding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9781032" y="203911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90760" y="182880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Formulation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Mixing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2270760" y="395935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80488" y="3749039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Pelletization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4148328" y="395935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58056" y="3749039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Cooling &amp; Screening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6025896" y="395935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5624" y="3749039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Quality Testing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7903463" y="395935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3192" y="3749039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Plant Testing</a:t>
            </a:r>
          </a:p>
        </p:txBody>
      </p:sp>
      <p:sp>
        <p:nvSpPr>
          <p:cNvPr id="24" name="Chevron 23"/>
          <p:cNvSpPr/>
          <p:nvPr/>
        </p:nvSpPr>
        <p:spPr>
          <a:xfrm>
            <a:off x="9781032" y="395935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90760" y="3749039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Packaging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1 &amp; 2 — Collection and Segregation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3891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COLLECTION SOURCES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Hotels</a:t>
            </a:r>
            <a:br/>
            <a:r>
              <a:t>Hostels</a:t>
            </a:r>
            <a:br/>
            <a:r>
              <a:t>Restaurants</a:t>
            </a:r>
            <a:br/>
            <a:r>
              <a:t>College canteens</a:t>
            </a:r>
            <a:br/>
            <a:r>
              <a:t>Vegetable markets</a:t>
            </a:r>
            <a:br/>
            <a:r>
              <a:t>Catering facilities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303520" cy="201168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SUITABLE MATERIALS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Vegetable peels • trimmings • fruit residues • spoiled but uncontaminated vegetables • plant-based kitchen residues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566160"/>
            <a:ext cx="5303520" cy="214884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AVOID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Plastic • glass • metal • chemicals • excessively oily waste • meat and bones • highly contaminated material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3 — Size Reduction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Shredding and chopping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657600" cy="34747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PURPOSE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Increase surface area</a:t>
            </a:r>
            <a:br/>
            <a:r>
              <a:t>Improve drying efficiency</a:t>
            </a:r>
            <a:br/>
            <a:r>
              <a:t>Make material easier to process</a:t>
            </a:r>
            <a:br/>
            <a:r>
              <a:t>Produce more uniform final 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480560"/>
            <a:ext cx="3645407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Vegetable Waste</a:t>
            </a:r>
          </a:p>
        </p:txBody>
      </p:sp>
      <p:sp>
        <p:nvSpPr>
          <p:cNvPr id="6" name="Chevron 5"/>
          <p:cNvSpPr/>
          <p:nvPr/>
        </p:nvSpPr>
        <p:spPr>
          <a:xfrm>
            <a:off x="4148327" y="469087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58056" y="4480560"/>
            <a:ext cx="3645407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Shredder</a:t>
            </a:r>
          </a:p>
        </p:txBody>
      </p:sp>
      <p:sp>
        <p:nvSpPr>
          <p:cNvPr id="8" name="Chevron 7"/>
          <p:cNvSpPr/>
          <p:nvPr/>
        </p:nvSpPr>
        <p:spPr>
          <a:xfrm>
            <a:off x="7903463" y="469087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13192" y="4480560"/>
            <a:ext cx="3645407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Small Particles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4 — Dehydration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Removing excess moisture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657600" cy="402336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POSSIBLE SYSTEMS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☀ Solar dryer</a:t>
            </a:r>
            <a:br/>
            <a:r>
              <a:t>Tray dryer</a:t>
            </a:r>
            <a:br/>
            <a:r>
              <a:t>Hot-air dryer</a:t>
            </a:r>
            <a:br/>
            <a:r>
              <a:t>Industrial continuous dryer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200400" cy="402336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PURPOSE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Remove excess water</a:t>
            </a:r>
            <a:br/>
            <a:r>
              <a:t>Reduce spoilage</a:t>
            </a:r>
            <a:br/>
            <a:r>
              <a:t>Reduce transportation weight</a:t>
            </a:r>
            <a:br/>
            <a:r>
              <a:t>Improve storage stability</a:t>
            </a:r>
            <a:br/>
            <a:r>
              <a:t>Prepare for grinding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25880"/>
            <a:ext cx="3474720" cy="402336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INNOVATION OPPORTUNITY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Investigate a solar-assisted drying system to potentially reduce energy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5 &amp; 6 — Grinding and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3645407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Dried Material</a:t>
            </a:r>
          </a:p>
        </p:txBody>
      </p:sp>
      <p:sp>
        <p:nvSpPr>
          <p:cNvPr id="5" name="Chevron 4"/>
          <p:cNvSpPr/>
          <p:nvPr/>
        </p:nvSpPr>
        <p:spPr>
          <a:xfrm>
            <a:off x="4148327" y="194767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8056" y="1737360"/>
            <a:ext cx="3645407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Grinder</a:t>
            </a:r>
          </a:p>
        </p:txBody>
      </p:sp>
      <p:sp>
        <p:nvSpPr>
          <p:cNvPr id="7" name="Chevron 6"/>
          <p:cNvSpPr/>
          <p:nvPr/>
        </p:nvSpPr>
        <p:spPr>
          <a:xfrm>
            <a:off x="7903463" y="194767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13192" y="1737360"/>
            <a:ext cx="3645407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Organic Powder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303520" cy="22860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GRINDING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Use a pulverizer or hammer mill. Aim for a relatively consistent particle size for uniform mixing and pelletization.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26080"/>
            <a:ext cx="5212080" cy="22860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FORMULATION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The vegetable-waste powder becomes the organic base. Ingredients may be selected to improve nutrient consistency, organic matter, pellet strength, storage stability and soil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7 &amp; 8 — Mixing and Pelletization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12080" cy="21031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MIXING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Organic powder + formulation ingredients → uniform mixture.</a:t>
            </a:r>
            <a:br/>
            <a:r>
              <a:t>Uniform mixing helps each pellet have approximately the same composition.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069080"/>
            <a:ext cx="3645407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Powder</a:t>
            </a:r>
          </a:p>
        </p:txBody>
      </p:sp>
      <p:sp>
        <p:nvSpPr>
          <p:cNvPr id="6" name="Chevron 5"/>
          <p:cNvSpPr/>
          <p:nvPr/>
        </p:nvSpPr>
        <p:spPr>
          <a:xfrm>
            <a:off x="4148327" y="42793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58056" y="4069080"/>
            <a:ext cx="3645407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Pelletizer</a:t>
            </a:r>
          </a:p>
        </p:txBody>
      </p:sp>
      <p:sp>
        <p:nvSpPr>
          <p:cNvPr id="8" name="Chevron 7"/>
          <p:cNvSpPr/>
          <p:nvPr/>
        </p:nvSpPr>
        <p:spPr>
          <a:xfrm>
            <a:off x="7903463" y="42793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13192" y="4069080"/>
            <a:ext cx="3645407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Small Pellets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03520" cy="21031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PELLET SIZE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A 3–6 mm diameter pellet size could be investigated for general soil and nursery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9 — Cooling &amp; Screening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Producing uniform, strong and easy-to-handle pellets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9319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COOLING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Fresh pellets are cooled after pelletization.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39319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SCREENING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Broken or oversized pellets are separated. Suitable material proceeds as the final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39319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TARGET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UNIFORM</a:t>
            </a:r>
            <a:br/>
            <a:r>
              <a:t>STRONG</a:t>
            </a:r>
            <a:br/>
            <a:r>
              <a:t>EASY TO HANDLE</a:t>
            </a:r>
            <a:br/>
            <a:br/>
            <a:r>
              <a:t>Broken material can potentially be returned to the 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10 — Quality Testing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Quality testing before commercial sale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43891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NUTRIENT TESTING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Nitrogen</a:t>
            </a:r>
            <a:br/>
            <a:r>
              <a:t>Phosphorus</a:t>
            </a:r>
            <a:br/>
            <a:r>
              <a:t>Potassium</a:t>
            </a:r>
            <a:br/>
            <a:r>
              <a:t>Organic carbon</a:t>
            </a:r>
            <a:br/>
            <a:r>
              <a:t>Moisture</a:t>
            </a:r>
            <a:br/>
            <a:r>
              <a:t>pH</a:t>
            </a:r>
            <a:br/>
            <a:r>
              <a:t>Electrical conductivity</a:t>
            </a:r>
            <a:br/>
            <a:r>
              <a:t>C:N ratio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1325880"/>
            <a:ext cx="3520440" cy="43891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SAFETY TESTING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Heavy metals</a:t>
            </a:r>
            <a:br/>
            <a:r>
              <a:t>Pathogens</a:t>
            </a:r>
            <a:br/>
            <a:r>
              <a:t>Physical contaminants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18704" y="1325880"/>
            <a:ext cx="3749039" cy="43891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PHYSICAL TESTING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Pellet size</a:t>
            </a:r>
            <a:br/>
            <a:r>
              <a:t>Pellet strength</a:t>
            </a:r>
            <a:br/>
            <a:r>
              <a:t>Bulk density</a:t>
            </a:r>
            <a:br/>
            <a:r>
              <a:t>Moisture stability</a:t>
            </a:r>
            <a:br/>
            <a:r>
              <a:t>Breakdown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11 — Plant-Growth Testing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Generating scientific evidence for product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4846320" cy="43891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EXPERIMENTAL GROUPS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A — No organic supplement</a:t>
            </a:r>
            <a:br/>
            <a:r>
              <a:t>B — Compost</a:t>
            </a:r>
            <a:br/>
            <a:r>
              <a:t>C — Basic pellet</a:t>
            </a:r>
            <a:br/>
            <a:r>
              <a:t>D — Improved formulation</a:t>
            </a:r>
            <a:br/>
            <a:r>
              <a:t>E — Commercial reference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806440" cy="43891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MEASURE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Germination</a:t>
            </a:r>
            <a:br/>
            <a:r>
              <a:t>Plant height</a:t>
            </a:r>
            <a:br/>
            <a:r>
              <a:t>Number of leaves</a:t>
            </a:r>
            <a:br/>
            <a:r>
              <a:t>Root growth</a:t>
            </a:r>
            <a:br/>
            <a:r>
              <a:t>Fresh biomass</a:t>
            </a:r>
            <a:br/>
            <a:r>
              <a:t>Dry biomass</a:t>
            </a:r>
            <a:br/>
            <a:r>
              <a:t>Soil parameters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Step 12 — Packaging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Moisture-resistant packaging after successful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06040" cy="34747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1 KG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Home gardeners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71600"/>
            <a:ext cx="2606040" cy="34747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5 KG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Terrace gardens</a:t>
            </a:r>
            <a:br/>
            <a:r>
              <a:t>Nurseries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606040" cy="34747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10 KG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Larger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371600"/>
            <a:ext cx="2606040" cy="347472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25 KG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Farms &amp; professional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2A38"/>
                </a:solidFill>
                <a:latin typeface="Aptos"/>
              </a:defRPr>
            </a:pPr>
            <a:r>
              <a:t>Packaging should clearly state composition, intended use and applicable regulatory information.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Target Market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Three major customer groups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520440" cy="429768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🌱 HOME GARDENERS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Demand:</a:t>
            </a:r>
            <a:br/>
            <a:r>
              <a:t>Easy application • Small packages • Clean product • Low odor • Convenient storage</a:t>
            </a:r>
            <a:br/>
            <a:br/>
            <a:r>
              <a:t>Positioning:</a:t>
            </a:r>
            <a:br/>
            <a:r>
              <a:t>“Easy-to-use organic pellets for home plants and kitchen gardens.”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520440" cy="429768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🌿 NURSERIES &amp; LANDSCAPING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Demand:</a:t>
            </a:r>
            <a:br/>
            <a:r>
              <a:t>Consistent quality • Convenient application • Bulk packaging • Reliable supply • Predictable specifications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71600"/>
            <a:ext cx="3520440" cy="429768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🌾 FARMERS &amp; COMMERCIAL GROWERS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Demand:</a:t>
            </a:r>
            <a:br/>
            <a:r>
              <a:t>Cost effectiveness • Nutrient value • Reliable results • Bulk availability • Soil compatibility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Marketing Strategy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Show the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Hotel Waste</a:t>
            </a:r>
          </a:p>
        </p:txBody>
      </p:sp>
      <p:sp>
        <p:nvSpPr>
          <p:cNvPr id="5" name="Chevron 4"/>
          <p:cNvSpPr/>
          <p:nvPr/>
        </p:nvSpPr>
        <p:spPr>
          <a:xfrm>
            <a:off x="2646273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56001" y="2011680"/>
            <a:ext cx="2143353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Dried Material</a:t>
            </a:r>
          </a:p>
        </p:txBody>
      </p:sp>
      <p:sp>
        <p:nvSpPr>
          <p:cNvPr id="7" name="Chevron 6"/>
          <p:cNvSpPr/>
          <p:nvPr/>
        </p:nvSpPr>
        <p:spPr>
          <a:xfrm>
            <a:off x="4899355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09083" y="201168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Organic Powder</a:t>
            </a:r>
          </a:p>
        </p:txBody>
      </p:sp>
      <p:sp>
        <p:nvSpPr>
          <p:cNvPr id="9" name="Chevron 8"/>
          <p:cNvSpPr/>
          <p:nvPr/>
        </p:nvSpPr>
        <p:spPr>
          <a:xfrm>
            <a:off x="7152436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2164" y="2011680"/>
            <a:ext cx="2143353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Pellets</a:t>
            </a:r>
          </a:p>
        </p:txBody>
      </p:sp>
      <p:sp>
        <p:nvSpPr>
          <p:cNvPr id="11" name="Chevron 10"/>
          <p:cNvSpPr/>
          <p:nvPr/>
        </p:nvSpPr>
        <p:spPr>
          <a:xfrm>
            <a:off x="9405518" y="2221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15246" y="201168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Plant Trial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10241280" cy="155448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DEMONSTRATION PLOTS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Provide samples to nurseries and selected growers. Use controlled demonstrations and measurable results rather than unsupported claims.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Hotel &amp; Hostel Partnership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Turn raw-material suppliers into strategic partners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Hotel</a:t>
            </a:r>
          </a:p>
        </p:txBody>
      </p:sp>
      <p:sp>
        <p:nvSpPr>
          <p:cNvPr id="5" name="Chevron 4"/>
          <p:cNvSpPr/>
          <p:nvPr/>
        </p:nvSpPr>
        <p:spPr>
          <a:xfrm>
            <a:off x="2646273" y="23134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56001" y="2103120"/>
            <a:ext cx="2143353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Segregated Waste</a:t>
            </a:r>
          </a:p>
        </p:txBody>
      </p:sp>
      <p:sp>
        <p:nvSpPr>
          <p:cNvPr id="7" name="Chevron 6"/>
          <p:cNvSpPr/>
          <p:nvPr/>
        </p:nvSpPr>
        <p:spPr>
          <a:xfrm>
            <a:off x="4899355" y="23134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09083" y="210312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Processing Facility</a:t>
            </a:r>
          </a:p>
        </p:txBody>
      </p:sp>
      <p:sp>
        <p:nvSpPr>
          <p:cNvPr id="9" name="Chevron 8"/>
          <p:cNvSpPr/>
          <p:nvPr/>
        </p:nvSpPr>
        <p:spPr>
          <a:xfrm>
            <a:off x="7152436" y="23134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2164" y="2103120"/>
            <a:ext cx="2143353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Organic Pellets</a:t>
            </a:r>
          </a:p>
        </p:txBody>
      </p:sp>
      <p:sp>
        <p:nvSpPr>
          <p:cNvPr id="11" name="Chevron 10"/>
          <p:cNvSpPr/>
          <p:nvPr/>
        </p:nvSpPr>
        <p:spPr>
          <a:xfrm>
            <a:off x="9405518" y="23134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15246" y="210312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Farmers / Gardeners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10241280" cy="146304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ADDITIONAL VALUE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A waste-diversion report/certificate could potentially show the amount of organic material recovered, subject to applicable local rules and verification.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Market Positioning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How should the product be presented?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8288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❌ AVOID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“Fertilizer made from food waste.”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18288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✅ POSITION AS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“A standardized organic plant pellet created by converting segregated vegetable waste into a convenient agricultural input.”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114800"/>
            <a:ext cx="2706624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Waste Management</a:t>
            </a:r>
          </a:p>
        </p:txBody>
      </p:sp>
      <p:sp>
        <p:nvSpPr>
          <p:cNvPr id="7" name="Chevron 6"/>
          <p:cNvSpPr/>
          <p:nvPr/>
        </p:nvSpPr>
        <p:spPr>
          <a:xfrm>
            <a:off x="3209544" y="432511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4114800"/>
            <a:ext cx="2706624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Resource Recovery</a:t>
            </a:r>
          </a:p>
        </p:txBody>
      </p:sp>
      <p:sp>
        <p:nvSpPr>
          <p:cNvPr id="9" name="Chevron 8"/>
          <p:cNvSpPr/>
          <p:nvPr/>
        </p:nvSpPr>
        <p:spPr>
          <a:xfrm>
            <a:off x="6025896" y="432511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4114800"/>
            <a:ext cx="2706624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Agriculture</a:t>
            </a:r>
          </a:p>
        </p:txBody>
      </p:sp>
      <p:sp>
        <p:nvSpPr>
          <p:cNvPr id="11" name="Chevron 10"/>
          <p:cNvSpPr/>
          <p:nvPr/>
        </p:nvSpPr>
        <p:spPr>
          <a:xfrm>
            <a:off x="8842248" y="432511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4114800"/>
            <a:ext cx="2706624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Convenience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Revenue Model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Two potential revenue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338328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1 — PRODUCT SALES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Sell pellets to:</a:t>
            </a:r>
            <a:br/>
            <a:r>
              <a:t>Nurseries</a:t>
            </a:r>
            <a:br/>
            <a:r>
              <a:t>Farmers</a:t>
            </a:r>
            <a:br/>
            <a:r>
              <a:t>Gardeners</a:t>
            </a:r>
            <a:br/>
            <a:r>
              <a:t>Landscaping companies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338328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2 — WASTE-PROCESSING SERVICE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Hotels, hostels and institutions may potentially pay for or contract collection/processing of segregated organic waste, depending on local arrangements.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212080"/>
            <a:ext cx="3645407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Processing Revenue</a:t>
            </a:r>
          </a:p>
        </p:txBody>
      </p:sp>
      <p:sp>
        <p:nvSpPr>
          <p:cNvPr id="7" name="Chevron 6"/>
          <p:cNvSpPr/>
          <p:nvPr/>
        </p:nvSpPr>
        <p:spPr>
          <a:xfrm>
            <a:off x="4148327" y="54223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8056" y="5212080"/>
            <a:ext cx="3645407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Pellet Sales</a:t>
            </a:r>
          </a:p>
        </p:txBody>
      </p:sp>
      <p:sp>
        <p:nvSpPr>
          <p:cNvPr id="9" name="Chevron 8"/>
          <p:cNvSpPr/>
          <p:nvPr/>
        </p:nvSpPr>
        <p:spPr>
          <a:xfrm>
            <a:off x="7903463" y="54223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13192" y="5212080"/>
            <a:ext cx="3645407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Stronger Business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Competitive Advantage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Why can the product stand out?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20440" cy="18288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♻ WASTE-TO-VALUE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Converts a waste stream into a useful agricultural input.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34440"/>
            <a:ext cx="3520440" cy="18288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💧 DEHYDRATED FORMAT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Lower moisture can make material easier to handle.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234440"/>
            <a:ext cx="3520440" cy="18288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📦 PELLET FORMAT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Cleaner and easier to apply than loose organic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3520440" cy="18288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🔬 STANDARDIZATION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Laboratory testing can provide consistent specifications.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429000"/>
            <a:ext cx="3520440" cy="18288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🌱 BIOLOGICAL ENHANCEMENT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Future formulations could investigate suitable beneficial microorganisms.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429000"/>
            <a:ext cx="3520440" cy="1828800"/>
          </a:xfrm>
          <a:prstGeom prst="roundRect">
            <a:avLst/>
          </a:prstGeom>
          <a:solidFill>
            <a:srgbClr val="E8F6FD"/>
          </a:solidFill>
          <a:ln w="19050">
            <a:solidFill>
              <a:srgbClr val="5B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700">
                <a:solidFill>
                  <a:srgbClr val="082344"/>
                </a:solidFill>
              </a:defRPr>
            </a:pPr>
            <a:r>
              <a:t>☀ RENEWABLE-ENERGY PROCESSING</a:t>
            </a:r>
          </a:p>
          <a:p>
            <a:pPr>
              <a:defRPr sz="1300">
                <a:solidFill>
                  <a:srgbClr val="1C2A38"/>
                </a:solidFill>
              </a:defRPr>
            </a:pPr>
            <a:r>
              <a:t>Solar-assisted dehydration could potentially reduce processing energy.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Complete Business Model</a:t>
            </a:r>
          </a:p>
          <a:p>
            <a:pPr>
              <a:defRPr sz="1400">
                <a:solidFill>
                  <a:srgbClr val="5BB4E8"/>
                </a:solidFill>
              </a:defRPr>
            </a:pPr>
            <a:r>
              <a:t>From waste to plant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Hotels / Hostels / Canteens</a:t>
            </a:r>
          </a:p>
        </p:txBody>
      </p:sp>
      <p:sp>
        <p:nvSpPr>
          <p:cNvPr id="5" name="Chevron 4"/>
          <p:cNvSpPr/>
          <p:nvPr/>
        </p:nvSpPr>
        <p:spPr>
          <a:xfrm>
            <a:off x="2270760" y="18562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80488" y="164592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Vegetable Waste</a:t>
            </a:r>
          </a:p>
        </p:txBody>
      </p:sp>
      <p:sp>
        <p:nvSpPr>
          <p:cNvPr id="7" name="Chevron 6"/>
          <p:cNvSpPr/>
          <p:nvPr/>
        </p:nvSpPr>
        <p:spPr>
          <a:xfrm>
            <a:off x="4148328" y="18562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8056" y="164592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Sorting</a:t>
            </a:r>
          </a:p>
        </p:txBody>
      </p:sp>
      <p:sp>
        <p:nvSpPr>
          <p:cNvPr id="9" name="Chevron 8"/>
          <p:cNvSpPr/>
          <p:nvPr/>
        </p:nvSpPr>
        <p:spPr>
          <a:xfrm>
            <a:off x="6025896" y="18562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64592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Shredding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7903463" y="18562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3192" y="164592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Dehydration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9781032" y="18562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90760" y="164592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Grinding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Formulation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2270760" y="36850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80488" y="347472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Mixing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4148328" y="36850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58056" y="347472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Pelletizing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6025896" y="36850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5624" y="347472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Quality Testing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7903463" y="36850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3192" y="3474720"/>
            <a:ext cx="1767840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Packaging</a:t>
            </a:r>
          </a:p>
        </p:txBody>
      </p:sp>
      <p:sp>
        <p:nvSpPr>
          <p:cNvPr id="24" name="Chevron 23"/>
          <p:cNvSpPr/>
          <p:nvPr/>
        </p:nvSpPr>
        <p:spPr>
          <a:xfrm>
            <a:off x="9781032" y="36850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90760" y="3474720"/>
            <a:ext cx="1767840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Nurseries / Farmers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0352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Gardeners</a:t>
            </a:r>
          </a:p>
        </p:txBody>
      </p:sp>
      <p:sp>
        <p:nvSpPr>
          <p:cNvPr id="27" name="Chevron 26"/>
          <p:cNvSpPr/>
          <p:nvPr/>
        </p:nvSpPr>
        <p:spPr>
          <a:xfrm>
            <a:off x="2646273" y="55138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56001" y="5303520"/>
            <a:ext cx="2143353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Agriculture</a:t>
            </a:r>
          </a:p>
        </p:txBody>
      </p:sp>
      <p:sp>
        <p:nvSpPr>
          <p:cNvPr id="29" name="Chevron 28"/>
          <p:cNvSpPr/>
          <p:nvPr/>
        </p:nvSpPr>
        <p:spPr>
          <a:xfrm>
            <a:off x="4899355" y="55138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09083" y="530352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Plants</a:t>
            </a:r>
          </a:p>
        </p:txBody>
      </p:sp>
      <p:sp>
        <p:nvSpPr>
          <p:cNvPr id="31" name="Chevron 30"/>
          <p:cNvSpPr/>
          <p:nvPr/>
        </p:nvSpPr>
        <p:spPr>
          <a:xfrm>
            <a:off x="7152436" y="55138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62164" y="5303520"/>
            <a:ext cx="2143353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Organic Waste</a:t>
            </a:r>
          </a:p>
        </p:txBody>
      </p:sp>
      <p:sp>
        <p:nvSpPr>
          <p:cNvPr id="33" name="Chevron 32"/>
          <p:cNvSpPr/>
          <p:nvPr/>
        </p:nvSpPr>
        <p:spPr>
          <a:xfrm>
            <a:off x="9405518" y="551383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15246" y="5303520"/>
            <a:ext cx="2143353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Recycling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82344"/>
                </a:solidFill>
                <a:latin typeface="Aptos Display"/>
              </a:defRPr>
            </a:pPr>
            <a:r>
              <a:t>Final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82344"/>
                </a:solidFill>
              </a:defRPr>
            </a:pPr>
            <a:r>
              <a:t>“We convert segregated vegetable waste from hotels and hostels into standardized, easy-to-use organic pellets, creating a circular link between food waste management and sustainable plant production.”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297680"/>
            <a:ext cx="2706624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WASTE</a:t>
            </a:r>
          </a:p>
        </p:txBody>
      </p:sp>
      <p:sp>
        <p:nvSpPr>
          <p:cNvPr id="6" name="Chevron 5"/>
          <p:cNvSpPr/>
          <p:nvPr/>
        </p:nvSpPr>
        <p:spPr>
          <a:xfrm>
            <a:off x="3209544" y="4507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19272" y="4297680"/>
            <a:ext cx="2706624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344"/>
                </a:solidFill>
              </a:defRPr>
            </a:pPr>
            <a:r>
              <a:t>RESOURCE</a:t>
            </a:r>
          </a:p>
        </p:txBody>
      </p:sp>
      <p:sp>
        <p:nvSpPr>
          <p:cNvPr id="8" name="Chevron 7"/>
          <p:cNvSpPr/>
          <p:nvPr/>
        </p:nvSpPr>
        <p:spPr>
          <a:xfrm>
            <a:off x="6025896" y="4507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706624" cy="777240"/>
          </a:xfrm>
          <a:prstGeom prst="roundRect">
            <a:avLst/>
          </a:prstGeom>
          <a:solidFill>
            <a:srgbClr val="08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AGRICULTURE</a:t>
            </a:r>
          </a:p>
        </p:txBody>
      </p:sp>
      <p:sp>
        <p:nvSpPr>
          <p:cNvPr id="10" name="Chevron 9"/>
          <p:cNvSpPr/>
          <p:nvPr/>
        </p:nvSpPr>
        <p:spPr>
          <a:xfrm>
            <a:off x="8842248" y="4507992"/>
            <a:ext cx="109728" cy="365760"/>
          </a:xfrm>
          <a:prstGeom prst="chevron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51976" y="4297680"/>
            <a:ext cx="2706624" cy="777240"/>
          </a:xfrm>
          <a:prstGeom prst="roundRect">
            <a:avLst/>
          </a:prstGeom>
          <a:solidFill>
            <a:srgbClr val="5B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344"/>
                </a:solidFill>
              </a:defRPr>
            </a:pPr>
            <a:r>
              <a:t>SUSTAINABILITY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5BB4E8"/>
                </a:solidFill>
              </a:defRPr>
            </a:pPr>
            <a:r>
              <a:t>♻ Turning Waste Into Value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🌱 Growing a Sustainable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457200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5BB4E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